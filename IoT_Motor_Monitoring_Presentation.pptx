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our presentation on the IoT-Based Motor Monitoring and Predictive Maintenance System. Our team combines embedded hardware, cloud/backend software, and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Industrial motors power factories and pumps. Unplanned downtime is costly. We propose an end-to-end IoT and ML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abstract outlines the complete pipeline: hardware edge sensing, cloud backend ingestion, and predictive ML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sector is industrial manufacturing, especially continuous-duty operations where unexpected motor stoppage incurs massive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maintenance is periodic and blind to sudden faults. Our IoT solution provides 24/7 continuous health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objectives span edge sensing, motor control, backend telemetry pipeline, and predictive AI data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Comprehensive BOM covering the ESP32, sensor array, L298N driver, power supply, and protection circuitry.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Software architecture spanning embedded C++ on ESP32, Python FastAPI backend, React dashboard, and ML libraries.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ESP32 provides high processing power and Wi-Fi. DHT22 tracks motor temperature to prevent insulation degradation.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ACS712 measures current via Hall effect. Our hardware calibration identified a 1.8925V zero-point offset for accurate Amperage calculation.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MPU6050 measures 3D acceleration. We calculate vector magnitude minus 1g gravity to isolate vibration amplitude into Low, Med, and High severity.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IR sensor monitors rotation and presence. L298N drives the DC motor with PWM speed control from GPIO 25, 26, and 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pin map and electrical protection details ensuring stable 24/7 continuous sensor readings.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moves seamlessly from physical motor sensors to ESP32 edge processing, FastAPI cloud backend, React dashboard, and ML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Firmware runs a non-blocking 2-second acquisition loop, builds structured JSON, and posts telemetry via HTTP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look at mathematical conversion and rule-based thresholding for current, vibration, and temperature.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FastAPI backend ingests telemetry, validates with Pydantic, saves to SQLite, and streams over WebSockets.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dashboard provides plant operators with real-time health indicators, live waveforms, and motor control switches.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ML models analyze feature vectors from vibration, current, and temperature to forecast equipment failure before it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your actual high-resolution hardware photos, serial monitor captures, and dashboard screenshots into these placeholders.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Demonstrates the exact live telemetry stream generated by the ESP32 and successfully processed by the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Highlighting 24/7 continuous visibility, early fault detection, downtime reduction, and scalability.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by reiterating how edge IoT and ML come together to deliver real-time condition-based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includes TinyML at the edge, FFT vibration spectra, mobile apps, and industrial-grade sensor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audience, panel, and faculty. Open the floor for technical questions regarding hardware, software, or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2926080" cy="3657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INDUSTRY 4.0 IoT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IoT-Based Motor Monitoring and</a:t>
            </a:r>
            <a:br/>
            <a:r>
              <a:t>Predictive Maintenance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PROJECT PRESENTERS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 Person 1: Hardware &amp; ESP32 Embedded Systems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 Person 2: Web Dashboard &amp; FastAPI Backend Server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 Person 3: Machine Learning &amp; Predictive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4114800"/>
            <a:ext cx="4663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CORE TECHNOLOGIES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 Hardware: ESP32 Microcontroller | Multi-Sensor Bus (I2C/ADC)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 Sensors: DHT22 (Temp/Hum) | ACS712 (Current) | MPU6050 (Vibe)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 Backend: Python | FastAPI | SQLite | WebSocket Server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 Frontend &amp; ML: React Dashboard | TailwindCSS |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01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Introduction — Industrial Motors &amp; Maintenance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The Role of Industrial Motors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Essential driving forces in manufacturing, pumps, conveyors, compressors, and cooling fans.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Continuous 24/7 operation under demanding mechanical and thermal loads.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Unexpected failures lead to severe downtime and economic losses.</a:t>
            </a:r>
          </a:p>
          <a:p>
            <a:br/>
            <a:pPr>
              <a:defRPr sz="1400" b="1">
                <a:solidFill>
                  <a:srgbClr val="F59E0B"/>
                </a:solidFill>
              </a:defRPr>
            </a:pPr>
            <a:r>
              <a:t>Consequences of Unplanned Failure: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✖ Production downtime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✖ Increased repair costs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✖ Equipment damage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✖ Workplace safety hazards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73736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Our IoT-Based Approach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Continuous telemetry data collection using multi-sensor nodes connected to an ESP32 microcontroller.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High-speed wireless Wi-Fi transmission to a centralized FastAPI server.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Live industrial web dashboard for real-time health visualization and automated alarms.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Machine Learning pipeline for early anomaly detection and predictive failure modeling.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94960"/>
            <a:ext cx="10728655" cy="1005840"/>
          </a:xfrm>
          <a:prstGeom prst="roundRect">
            <a:avLst/>
          </a:prstGeom>
          <a:solidFill>
            <a:srgbClr val="18274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86400"/>
            <a:ext cx="10149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Executive Summary Quote:</a:t>
            </a:r>
          </a:p>
          <a:p>
            <a:pPr>
              <a:defRPr sz="1300" i="1">
                <a:solidFill>
                  <a:srgbClr val="E0F2FE"/>
                </a:solidFill>
              </a:defRPr>
            </a:pPr>
            <a:r>
              <a:t>“Our project continuously monitors industrial motor condition via sensors. The ESP32 collects telemetry over Wi-Fi, the dashboard provides live operator insights, and ML predicts impending faults.”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02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Project Abstract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01. EDGE SENSING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ESP32 Microcontroller: 32-bit dual core CPU, integrated 2.4GHz Wi-Fi.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DHT22: High-accuracy ambient &amp; motor surface temp/humidity.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ACS712: Hall-effect current transducer with calibrated zero offset.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MPU6050: 3-Axis accelerometer for dynamic vibration spectrum analysis.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IR Optical Sensor: Object / RPM state detection.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02. CLOUD &amp; BACKEND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FastAPI Server: High-throughput asynchronous REST API &amp; WebSocket pipeline.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SQLite Persistence: Time-series historical logging of all motor metrics.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Real-Time Telemetry: Low-latency streaming of sensor data to operators.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Command &amp; Control: Remote speed adjustment and emergency shutdown capabilities.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03. PREDICTIVE AI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Condition Assessment: Automated vibration &amp; current anomaly grading.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ML Modeling: Trend analysis over temperature rise, vibration spikes, and current draw.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Goal: Shift from reactive/calendar maintenance to condition-based predictive maintenance.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Result: Reduced downtime, lower maintenance expenditure, improved equipment lifespan.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03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Target Sector &amp; Suitable Application Areas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1. Manufacturing Industries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Production assembly lines, automated conveyors, and precision robotic machinery requiring continuous uptime.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2. Pumping &amp; Water Systems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Municipal water pumps, chemical delivery pumps, and industrial cooling circulation loops.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HVAC &amp; Ventilation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Large commercial air handlers, industrial exhaust fans, and cooling tower motor drives.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4. Mining &amp; Heavy Industry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Heavy rock crushers, ore conveyor belts, vibratory screens, and underground ventilation.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5. Process Industries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Chemical agitators, food processing mixers, packaging lines, and textile spinning mills.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C4899"/>
                </a:solidFill>
              </a:defRPr>
            </a:pPr>
            <a:r>
              <a:t>6. Smart Factory / Industry 4.0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Fully connected cyber-physical factory environments with centralized telemetry and predictive maintenance.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04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Problem Statement — Traditional vs Modern Maintenance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Traditional Maintenance Limitations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✖ Periodic Manual Inspections: Only captures state at discrete, infrequent intervals.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✖ Blind Spots: Developing faults between scheduled inspections go undetected.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✖ Undetected Overheating: Gradual thermal breakdown of winding insulation.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✖ Undetected Vibration: Mechanical imbalance or bearing degradation worsens over time.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✖ High Labor &amp; Time: Requires dedicated technicians to manually visit each machine.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Proposed IoT Condition-Based Solution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Continuous 24/7 Telemetry: High-frequency sampling of key physical variables.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Real-Time Anomaly Alerts: Immediate notifications when vibration, current, or temp exceed thresholds.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Automated Edge Calibration: Calibrated sensor zero-point offsets ensure precision.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Centralized Web Monitoring: Single-pane-of-glass dashboard for plant-wide visibility.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Machine Learning Forecasting: Early warning before catastrophic mechanical failure.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05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System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1188720"/>
          </a:xfrm>
          <a:prstGeom prst="roundRect">
            <a:avLst/>
          </a:prstGeom>
          <a:solidFill>
            <a:srgbClr val="18274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149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PRIMARY OBJECTIVE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To engineer an end-to-end real-time IoT platform that continuously monitors industrial motor physical parameters, stores historical telemetry, provides interactive web visualization, and establishes the foundation for predictive maintenance ML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33832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Thermal &amp; Ambient Sensing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Track motor housing temperature and ambient humidity with DHT22 to avoid overheating.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017520"/>
            <a:ext cx="33832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3154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Current &amp; Load Tracking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Measure instantaneous current with ACS712 to detect overload and resistance.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017520"/>
            <a:ext cx="33832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154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Vibration Spectrum Analysis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Compute 3-axis acceleration and vibration deviation with MPU6050 accelerometer.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33832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Motor Driver &amp; Control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Interface L298N dual H-Bridge driver with ESP32 for PWM speed control and safety shutoff.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663440"/>
            <a:ext cx="33832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8006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Backend &amp; Web Dashboard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Stream data via Wi-Fi to FastAPI server, store in SQLite, and render in live UI.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663440"/>
            <a:ext cx="33832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8006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C4899"/>
                </a:solidFill>
              </a:defRPr>
            </a:pPr>
            <a:r>
              <a:t>Predictive Intelligence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Prepare structured time-series datasets for machine learning failure prediction.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06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Hardware Requirements &amp; Bill of Materials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528255"/>
              </a:tblGrid>
              <a:tr h="4156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Functional Purpose in System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ESP32 Dev Board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Central 32-bit dual-core microcontroller with 2.4 GHz Wi-Fi / Bluetooth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DHT22 Sensor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Digital high-precision temperature &amp; humidity sensing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ACS712 (30A/20A/5A)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Hall-effect isolated motor current transducer (calibrated at 1.8925 V zero-point)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MPU6050 IMU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3-Axis acceleration &amp; vibration magnitude measurement via I2C bus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IR Optical Sensor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Digital infrared sensor for object detection / RPM gating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L298N Motor Driver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Dual H-Bridge power driver for DC motor speed (PWM) and direction control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DC Motor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Industrial motor prototype under continuous health monitoring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External Power Supply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Regulated 12V/5V DC power source for motor and sensor rails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Resistor Divider Network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Signal level shifting and ADC protection for ESP32 3.3V inputs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Breadboard &amp; Jumper Wires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Physical prototyping harness and electrical interconnects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07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Software Architecture &amp; 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Embedded Firmware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Arduino IDE / C++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ESP32 Board Core (v2.x/v3.x)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Wire.h (I2C Bus Protocol)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Adafruit DHT &amp; Sensor Libs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Non-blocking timer loops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Backend Server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Python 3.11+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FastAPI Web Framework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Uvicorn ASGI Server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Pydantic Schema Validation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SQLite Time-Series 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Web Frontend Dashboard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Modern React 19 + TypeScript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TailwindCSS Industrial Design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Recharts Interactive Charts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WebSocket Real-Time Sync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Responsive Operator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82880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Machine Learning &amp; Comms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Scikit-learn / NumPy / Pandas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Vibration FFT Feature Extraction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Anomaly Detection Classifiers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HTTP REST JSON Ingestion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WebSocket Broadcast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08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Core Controller &amp; Thermal Sensor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ESP32 Microcontroller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Core: Xtensa Dual-Core 32-bit LX6 microprocessor operating up to 240 MHz.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Wireless: Integrated 802.11 b/g/n Wi-Fi + BLE 4.2 for direct cloud connectivity.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Analog Peripherals: Multi-channel 12-bit SAR ADC for analog sensor acquisition.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Digital Bus: Hardware I2C (GPIO 21/22) for high-speed MPU6050 accelerometer reads.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Role: Edge data acquisition, physical unit conversion, and HTTP JSON transmission.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DHT22 Temperature &amp; Humidity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Temperature Range: -40°C to +80°C (±0.5°C accuracy).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Humidity Range: 0 to 100% RH (±2% accuracy).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Protocol: Single-bus digital signal on ESP32 GPIO 4.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Industrial Significance: Motor winding insulation degrades exponentially when operating above rated thermal class.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Early Detection: Detects thermal runaway and inadequate ventilation before winding burnout.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09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ACS712 Motor Current Sensing &amp; Calibration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Operating Principle &amp; Significance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Hall-Effect Transducer: Provides galvanic isolation between high-power motor line and ESP32.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Linear Output: Yields an analog voltage proportional to AC/DC load current.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Current Signatures: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• Inrush Current: Spike during motor startup.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• Steady-State Load: Nominal operating current.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• Overload / Jamming: Sustained current surge indicating mechanical binding or stalled rotor.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Mathematical Model &amp; Calibration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Measured Zero-Current Voltage: 1.8925 V (Calibrated Offset)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Sensor Sensitivity (ACS712-20A/30A): ~100 mV/A or 66 mV/A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Conversion Formula in ESP32: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V_sensor = (ADC_raw / 4095.0) * V_ref * Divider_Ratio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I_motor = (V_sensor - V_zero_offset) / Sensitivity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Accuracy Optimization: 100-sample moving average filter eliminates switching noise and ADC jitter.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10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MPU6050 Vibration &amp; Acceleration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Accelerometer Vector Mathematics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MPU6050 6-DOF IMU: High-precision 3-axis MEMS accelerometer on I2C bus.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Total Acceleration Magnitude: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 Total Accel = √( X² + Y² + Z² 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Dynamic Vibration Deviation: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 Vibration = | Total Accel - 1.0g |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Physical Significance: Normal stationary motor exhibits ~1.0g due to gravity. Mechanical imbalance causes dynamic oscillations around 1.0g.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Vibration Severity Classification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• LOW (&lt; 0.05 g)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Smooth operation, balanced rotor, healthy bearings.</a:t>
            </a:r>
          </a:p>
          <a:p>
            <a:pPr>
              <a:defRPr sz="1300" b="1">
                <a:solidFill>
                  <a:srgbClr val="F59E0B"/>
                </a:solidFill>
              </a:defRPr>
            </a:pPr>
            <a:r>
              <a:t>• MEDIUM (0.05 - 0.15 g)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Developing minor imbalance, looseness, or slight misalignment. Warning logged.</a:t>
            </a:r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• HIGH (≥ 0.15 g)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Severe vibration! Bearing raceway damage, rotor eccentricity, or imminent structural failure.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11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IR Optical Sensing &amp; L298N Motor Driver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IR Optical Sensor (GPIO 35)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Infrared Transmitter/Receiver Pair: Detects reflective object presence and optical passage.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RPM / Shaft Speed Detection: Counts optical pulses per revolution when paired with an encoder wheel.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Position Gating: Confirms physical presence and rotation of conveyor or motor shaft.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Interfacing: Connected to ESP32 input GPIO 35 with interrupt-driven pulse counter.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L298N Dual H-Bridge Driver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Power Stage: Dual full-bridge driver handling up to 46V and 2A continuous motor loads.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ESP32 Control Connections: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 • ENA (Speed / PWM): GPIO 25 (0–255 duty cycle)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 • IN1 (Direction A): GPIO 26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  • IN2 (Direction B): GPIO 27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Safety Interlock: Allows backend and edge logic to immediately stop motor upon critical alarm.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12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Hardware Circuit Schematics &amp; Pin Mapping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ESP32 GPIO Pin Configuration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• DHT22 DATA     ➔ GPIO 4   (Digital 1-Wire Thermal Bus)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• ACS712 VOUT    ➔ GPIO 34  (Analog ADC1_CH6 (Current Sensor))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• IR SENSOR OUT  ➔ GPIO 35  (Digital ADC1_CH7 / Input)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• MPU6050 SDA    ➔ GPIO 21  (I2C Data Bus)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• MPU6050 SCL    ➔ GPIO 22  (I2C Clock Bus)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• L298N ENA      ➔ GPIO 25  (Hardware PWM Speed Control)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• L298N IN1      ➔ GPIO 26  (Motor Direction Control Phase A)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• L298N IN2      ➔ GPIO 27  (Motor Direction Control Phase 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Electrical Design &amp; Protection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Common Ground: Unified GND reference between 12V motor supply, 5V sensor rail, and ESP32 3.3V logic.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Decoupling Capacitors: 100uF + 0.1uF across motor rail to snub inductive kickback.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I2C Pull-Up Resistors: 4.7kΩ on SDA/SCL lines to guarantee clean 400kHz bus communication.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Optical Isolation: ACS712 galvanic isolation prevents inductive voltage spikes from damaging the ESP32.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13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End-to-End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057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87451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1. PHYSICAL SENSORS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DC Industrial Motor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DHT22 / ACS712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MPU6050 / IR Sensor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L298N Motor Driver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2057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1828800"/>
            <a:ext cx="187451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2. EDGE COMPUTING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Sensor Acquisition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Offset Calibration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Wi-Fi TCP/IP Stack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HTTP JSON Payload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2057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187451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3. FASTAPI BACKEND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REST API Ingestion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WebSocket Broadcaster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Data Validation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SQLite Time-Series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199" y="1645920"/>
            <a:ext cx="2057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39" y="1828800"/>
            <a:ext cx="187451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4. WEB DASHBOARD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Live Real-Time Gauges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Historical Trend Charts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Alert Notification Bar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Speed / Power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645920"/>
            <a:ext cx="2057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1828800"/>
            <a:ext cx="187451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5. AI PREDICTION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Vibration Anomaly Grading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Time-Series Degradation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Failure Risk Probability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Maintenance Alerts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14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ESP32 Firmware Execution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Microcontroller Program Flow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1. Power-on Self Test &amp; Pin Configuration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2. Initialize MPU6050 on I2C (0x68) &amp; DHT22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3. Connect to Wi-Fi SSID with auto-reconnect fallback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4. Non-Blocking Loop (Every 2000 ms):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• Sample ADC for ACS712 current &amp; compute RMS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• Read MPU6050 accelerometer X, Y, Z vector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• Read DHT22 temperature (°C) &amp; humidity (%)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• Classify vibration level (Low / Med / High)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• Construct JSON payload &amp; POST to FastAPI 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Sample Edge JSON Telemetry</a:t>
            </a:r>
          </a:p>
          <a:p>
            <a:pPr>
              <a:defRPr sz="1100">
                <a:solidFill>
                  <a:srgbClr val="E0F2FE"/>
                </a:solidFill>
                <a:latin typeface="Consolas"/>
              </a:defRPr>
            </a:pPr>
            <a:r>
              <a:t>{</a:t>
            </a:r>
            <a:br/>
            <a:r>
              <a:t>  "motor_id": "MOTOR-01",</a:t>
            </a:r>
            <a:br/>
            <a:r>
              <a:t>  "temperature": 34.4,</a:t>
            </a:r>
            <a:br/>
            <a:r>
              <a:t>  "humidity": 62.2,</a:t>
            </a:r>
            <a:br/>
            <a:r>
              <a:t>  "current": 2.40,</a:t>
            </a:r>
            <a:br/>
            <a:r>
              <a:t>  "mpu_x": 0.259,</a:t>
            </a:r>
            <a:br/>
            <a:r>
              <a:t>  "mpu_y": -0.965,</a:t>
            </a:r>
            <a:br/>
            <a:r>
              <a:t>  "mpu_z": -0.062,</a:t>
            </a:r>
            <a:br/>
            <a:r>
              <a:t>  "total_accel": 1.001,</a:t>
            </a:r>
            <a:br/>
            <a:r>
              <a:t>  "vibration": 0.038,</a:t>
            </a:r>
            <a:br/>
            <a:r>
              <a:t>  "vibration_level": "LOW",</a:t>
            </a:r>
            <a:br/>
            <a:r>
              <a:t>  "ir_status": "HIGH",</a:t>
            </a:r>
            <a:br/>
            <a:r>
              <a:t>  "motor_state": "ON"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15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Edge Sensor Data Processing &amp; Filtering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Current Data Pipeline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1. Read 12-bit ADC raw count (0 - 4095).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2. Convert ADC counts to voltage.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3. Subtract calibrated zero-point (1.8925 V).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4. Divide by sensor sensitivity.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5. Apply multi-sample moving average filter to eliminate motor brush noise.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Vibration Vector Math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1. Read raw 16-bit registers for X, Y, Z.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2. Scale by LSB sensitivity to g-units.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3. Compute total vector magnitude:</a:t>
            </a:r>
            <a:br/>
            <a:r>
              <a:t>   √( X² + Y² + Z² 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4. Calculate deviation from 1.0g gravity.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5. Classify severity (Low / Med / High).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Threshold Rules Engine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Temperature Rules:</a:t>
            </a:r>
            <a:br/>
            <a:r>
              <a:t> • &lt; 50°C : Normal</a:t>
            </a:r>
            <a:br/>
            <a:r>
              <a:t> • 50-70°C : Warning</a:t>
            </a:r>
            <a:br/>
            <a:r>
              <a:t> • &gt; 70°C : Critical Alarm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Vibration Rules:</a:t>
            </a:r>
            <a:br/>
            <a:r>
              <a:t> • &lt; 0.05g : Low</a:t>
            </a:r>
            <a:br/>
            <a:r>
              <a:t> • 0.05-0.15g : Medium</a:t>
            </a:r>
            <a:br/>
            <a:r>
              <a:t> • ≥ 0.15g : High Alarm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Current Rules:</a:t>
            </a:r>
            <a:br/>
            <a:r>
              <a:t> • &gt; 4.5A : Overload Trip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16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FastAPI Backend Architecture &amp; Endpoints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Backend Core Architecture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Asynchronous Processing: High-concurrency FastAPI framework handles hundreds of sensor POSTs per second.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Schema Validation: Pydantic models validate incoming sensor ranges and reject malformed packets.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SQLite Persistence: Time-series database records every telemetry reading with microsecond timestamps.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WebSocket Broadcasting: Instantly pushes fresh sensor readings to all connected web dashboard clients.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REST &amp; WebSocket Endpoints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✔ POST /api/telemetry</a:t>
            </a:r>
            <a:br/>
            <a:r>
              <a:t>   ➔ Ingests ESP32 sensor readings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✔ GET /api/motor/status</a:t>
            </a:r>
            <a:br/>
            <a:r>
              <a:t>   ➔ Returns live motor status &amp; telemetry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✔ GET /api/motor/history</a:t>
            </a:r>
            <a:br/>
            <a:r>
              <a:t>   ➔ Queries historical time-series data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✔ POST /api/motor/control</a:t>
            </a:r>
            <a:br/>
            <a:r>
              <a:t>   ➔ Dispatches ON/OFF &amp; speed PWM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✔ WS /ws/telemetry</a:t>
            </a:r>
            <a:br/>
            <a:r>
              <a:t>   ➔ Real-time bi-directional streaming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✔ GET /api/predict</a:t>
            </a:r>
            <a:br/>
            <a:r>
              <a:t>   ➔ Runs ML inference on latest sensor window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17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Web Monitoring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Live Dashboard UI Snapshot</a:t>
            </a:r>
          </a:p>
          <a:p>
            <a:pPr>
              <a:defRPr sz="1000">
                <a:solidFill>
                  <a:srgbClr val="E0F2F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┌──────────────────────────────────────────────┐</a:t>
            </a:r>
            <a:br/>
            <a:r>
              <a:t>│  MOTOR-01  |  STATUS: ● ONLINE (RUNNING)    │</a:t>
            </a:r>
            <a:br/>
            <a:r>
              <a:t>├──────────────────────────────────────────────┤</a:t>
            </a:r>
            <a:br/>
            <a:r>
              <a:t>│  Temperature:  34.4 °C     [ NORMAL ]       │</a:t>
            </a:r>
            <a:br/>
            <a:r>
              <a:t>│  Humidity:     62.2 %      [ AMBIENT ]      │</a:t>
            </a:r>
            <a:br/>
            <a:r>
              <a:t>│  Current Draw: 2.40 A      [ NOMINAL ]      │</a:t>
            </a:r>
            <a:br/>
            <a:r>
              <a:t>│  Vibration:    LOW (0.038g)[ HEALTHY ]      │</a:t>
            </a:r>
            <a:br/>
            <a:r>
              <a:t>│  MPU-X: 0.259g | MPU-Y: -0.965g | MPU-Z: -0.062g │</a:t>
            </a:r>
            <a:br/>
            <a:r>
              <a:t>│  IR Sensor:    OBJECT DETECTED              │</a:t>
            </a:r>
            <a:br/>
            <a:r>
              <a:t>└──────────────────────────────────────────────┘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Operator Features &amp; Controls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Live Sensor Telemetry: Instant sub-second gauge updates.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Interactive Charts: Time-series graphs for Temperature, Current, and Vibration trends.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Remote Motor Control: Start, Stop, and Speed slider PWM modulation.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Alert Notification Center: Real-time visual toasts and audible alarm thresholds.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Historical Export: Download CSV datasets for external analysis.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18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Predictive Maintenance &amp; Machine Learning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Predictive ML Pipeline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1. Data Collection: Aggregation of multi-sensor time-series.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2. Preprocessing &amp; Normalization: Outlier rejection and baseline normalization.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3. Feature Extraction: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 • Time-domain: RMS, Peak-to-Peak, Crest Factor.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   • Frequency-domain: FFT harmonic peaks.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4. Model Architecture: Random Forest / Isolation Forest / Gradient Boosting.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5. Output Prediction: Remaining Useful Life (RUL) &amp; Failure Probability 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Condition States &amp; Failure Modes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● NORMAL STATE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All sensor metrics within baseline operational limits.</a:t>
            </a:r>
          </a:p>
          <a:p>
            <a:pPr>
              <a:defRPr sz="1300" b="1">
                <a:solidFill>
                  <a:srgbClr val="F59E0B"/>
                </a:solidFill>
              </a:defRPr>
            </a:pPr>
            <a:r>
              <a:t>● WARNING STATE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Elevated vibration (0.05-0.15g) or gradual temperature drift. Maintenance scheduled.</a:t>
            </a:r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● CRITICAL ANOMALY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High vibration (&gt;0.15g) or current spike (&gt;4.5A). Auto-shutdown triggered.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19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Hardware Assembly &amp; Experimental Setup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1. Assembled Hardware Node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[Insert Actual Photo Here]</a:t>
            </a:r>
            <a:br/>
            <a:br/>
            <a:r>
              <a:t>ESP32 + DHT22 + ACS712 + MPU6050 integrated breadboard prototype.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2. Motor &amp; Sensor Placement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[Insert Actual Photo Here]</a:t>
            </a:r>
            <a:br/>
            <a:br/>
            <a:r>
              <a:t>Physical sensor coupling on industrial DC motor casing.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Arduino Serial Monitor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[Insert Actual Photo Here]</a:t>
            </a:r>
            <a:br/>
            <a:br/>
            <a:r>
              <a:t>Real-time edge terminal showing live calibrated telemetry.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4. Wi-Fi &amp; Backend Ingestion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[Insert Actual Photo Here]</a:t>
            </a:r>
            <a:br/>
            <a:br/>
            <a:r>
              <a:t>FastAPI server receiving HTTP POST payloads.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5. Live Web Dashboard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[Insert Actual Photo Here]</a:t>
            </a:r>
            <a:br/>
            <a:br/>
            <a:r>
              <a:t>Operator UI displaying real-time gauges and controls.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C4899"/>
                </a:solidFill>
              </a:defRPr>
            </a:pPr>
            <a:r>
              <a:t>6. Predictive Anomaly Output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[Insert Actual Photo Here]</a:t>
            </a:r>
            <a:br/>
            <a:br/>
            <a:r>
              <a:t>ML classification results and condition status badges.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20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Live System Output &amp; Telemetry Log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ESP32 Terminal Output Stream</a:t>
            </a:r>
          </a:p>
          <a:p>
            <a:pPr>
              <a:defRPr sz="1100">
                <a:solidFill>
                  <a:srgbClr val="E0F2FE"/>
                </a:solidFill>
                <a:latin typeface="Consolas"/>
              </a:defRPr>
            </a:pPr>
            <a:r>
              <a:t>[ESP32] Wi-Fi Connected: 192.168.1.104</a:t>
            </a:r>
            <a:br/>
            <a:r>
              <a:t>[SENSORS] DHT22: Temp=34.40°C, Hum=62.20%</a:t>
            </a:r>
            <a:br/>
            <a:r>
              <a:t>[ACS712] ADC Raw=2348, CalibV=1.8925V, I=2.40A</a:t>
            </a:r>
            <a:br/>
            <a:r>
              <a:t>[MPU6050] Accel X=0.259g, Y=-0.965g, Z=-0.062g</a:t>
            </a:r>
            <a:br/>
            <a:r>
              <a:t>[MATH] Total Accel = 1.001g, Vibration = 0.038g</a:t>
            </a:r>
            <a:br/>
            <a:r>
              <a:t>[SEVERITY] Level = LOW (Healthy)</a:t>
            </a:r>
            <a:br/>
            <a:r>
              <a:t>[IR SENSOR] State = HIGH (Object Present)</a:t>
            </a:r>
            <a:br/>
            <a:r>
              <a:t>[HTTP] POST /api/telemetry -&gt; 200 OK (38ms)</a:t>
            </a:r>
            <a:br/>
            <a:r>
              <a:t>[MOTOR] State = ON, PWM Speed = 65%</a:t>
            </a:r>
            <a:br/>
            <a:r>
              <a:t>--------------------------------------------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Telemetry Validation &amp; Performance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Update Frequency: Consistent 2.0 second acquisition cycles with zero missed frames.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Low Latency: Average HTTP POST transmission latency under 50 ms over local Wi-Fi.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Zero Drift: Running average filtering prevents false positive alarms during startup.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Robustness: Automatic Wi-Fi reconnection handling if network dropouts occur.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21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Key Advantages of the IoT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✔ Real-Time 24/7 Monitoring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Continuous telemetry collection eliminates blind spots between manual inspection intervals.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✔ Early Fault Detection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Identifies subtle thermal, electrical, and vibrational shifts before catastrophic failure.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✔ Reduced Downtime &amp; Costs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Enables condition-based maintenance, minimizing costly emergency repairs and lost output.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✔ Remote Accessibility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Web dashboard allows plant managers to monitor fleet health from any workstation or mobile device.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✔ Scalable Architecture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FastAPI backend and SQLite/PostgreSQL architecture easily scales to hundreds of motor nodes.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C4899"/>
                </a:solidFill>
              </a:defRPr>
            </a:pPr>
            <a:r>
              <a:t>✔ Industry 4.0 Ready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Seamlessly integrates with smart factory MES/SCADA infrastructure and predictive AI systems.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22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Project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Summary of Achievements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Successfully developed and validated a full-stack IoT industrial motor monitoring platform.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Demonstrated real-time sensor data acquisition (Temperature, Humidity, Current, 3D Acceleration, Optical IR) on the ESP32.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Built a robust, high-performance FastAPI backend with SQLite persistence and WebSocket broadcasting.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Engineered an interactive web dashboard providing plant operators with live health gauges and remote motor controls.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Established the baseline telemetry foundation and feature extraction pipeline for predictive maintenance ML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10728655" cy="1280160"/>
          </a:xfrm>
          <a:prstGeom prst="roundRect">
            <a:avLst/>
          </a:prstGeom>
          <a:solidFill>
            <a:srgbClr val="18274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212080"/>
            <a:ext cx="10149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Final Project Statement:</a:t>
            </a:r>
          </a:p>
          <a:p>
            <a:pPr>
              <a:defRPr sz="1300" i="1">
                <a:solidFill>
                  <a:srgbClr val="E0F2FE"/>
                </a:solidFill>
              </a:defRPr>
            </a:pPr>
            <a:r>
              <a:t>“The project demonstrates how modern IoT edge computing, cloud backend integration, and machine learning can converge to transform industrial motor monitoring from reactive maintenance into a proactive, condition-based predictive intelligence ecosystem.”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SLIDE 23  |  IOT MOTOR MONITORING &amp; PREDICTIVE MAINTENANCE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Future Enhancements &amp;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1. Advanced ML Fault Classification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Train deep neural networks and gradient boosting on expanded failure datasets to isolate bearing faults, imbalance, and winding breakdown.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2. Multi-Motor Fleet Scalability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Expand node architecture with unique UUIDs (M001, M002, ...) for plant-wide multi-motor fleet monitoring.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Cloud &amp; Edge Deployment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Deploy backend on AWS/GCP with MQTT brokers and edge AI microcontrollers (ESP32-S3 with TinyML).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4. Mobile Operator Application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Develop cross-platform React Native / Flutter apps with push notifications and SMS alert dispatches.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5. Frequency-Domain Vibration (FFT)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Implement high-frequency onboard FFT vibration spectral analysis to detect specific bearing defect frequencies.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C4899"/>
                </a:solidFill>
              </a:defRPr>
            </a:pPr>
            <a:r>
              <a:t>6. Industrial-Grade Transducers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Upgrade prototype sensors to DIN-rail industrial 4-20mA and Modbus RTU RS-485 vibration transmitters.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45920" y="1097280"/>
            <a:ext cx="8899855" cy="4663440"/>
          </a:xfrm>
          <a:prstGeom prst="roundRect">
            <a:avLst/>
          </a:prstGeom>
          <a:solidFill>
            <a:srgbClr val="18274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0" y="1463040"/>
            <a:ext cx="816833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6B6D4"/>
                </a:solidFill>
              </a:defRPr>
            </a:pPr>
            <a:r>
              <a:t>THANK YOU!</a:t>
            </a:r>
          </a:p>
          <a:p>
            <a:pPr algn="ctr">
              <a:defRPr sz="2000" b="1">
                <a:solidFill>
                  <a:srgbClr val="F8FAFC"/>
                </a:solidFill>
              </a:defRPr>
            </a:pPr>
            <a:r>
              <a:t>IoT-Based Motor Monitoring and Predictive Maintenance System</a:t>
            </a:r>
          </a:p>
          <a:p>
            <a:br/>
            <a:pPr algn="ctr">
              <a:defRPr sz="1800" b="1">
                <a:solidFill>
                  <a:srgbClr val="10B981"/>
                </a:solidFill>
              </a:defRPr>
            </a:pPr>
            <a:r>
              <a:t>Questions &amp; Technical Discussion</a:t>
            </a:r>
          </a:p>
          <a:p>
            <a:br/>
            <a:pPr algn="ctr">
              <a:defRPr sz="1300" b="1">
                <a:solidFill>
                  <a:srgbClr val="E0F2FE"/>
                </a:solidFill>
              </a:defRPr>
            </a:pPr>
            <a:r>
              <a:t>Sense  ➔  Process  ➔  Communicate  ➔  Store  ➔  Visualize  ➔  Predict  ➔  Maintain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